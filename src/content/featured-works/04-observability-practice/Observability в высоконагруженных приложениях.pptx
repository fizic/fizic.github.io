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D4E4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sz="4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Observability в высоконагруженных приложениях</a:t>
            </a:r>
            <a:endParaRPr sz="4000" b="0" strike="noStrike" spc="-1">
              <a:solidFill>
                <a:schemeClr val="tx1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buNone/>
              <a:defRPr/>
            </a:pP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indent="0" algn="ctr">
              <a:buNone/>
              <a:defRPr/>
            </a:pPr>
            <a:r>
              <a:rPr sz="24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Автор: Фирсов Кирилл</a:t>
            </a:r>
            <a:endParaRPr sz="24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D4E4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281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Что такое Observability?</a:t>
            </a:r>
            <a:endParaRPr sz="4000" b="1">
              <a:solidFill>
                <a:schemeClr val="tx1"/>
              </a:solidFill>
            </a:endParaRPr>
          </a:p>
        </p:txBody>
      </p:sp>
      <p:sp>
        <p:nvSpPr>
          <p:cNvPr id="4461642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Не просто мониторинг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, а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возможность понимать внутреннее состояние системы по ее внешним проявлениям</a:t>
            </a:r>
            <a:endParaRPr sz="1800" b="0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marL="0" indent="0">
              <a:buFont typeface="Arial"/>
              <a:buNone/>
              <a:defRPr/>
            </a:pPr>
            <a:b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</a:b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Основана на трех китах:</a:t>
            </a:r>
            <a:endParaRPr sz="18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-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Метрики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- количественные показатели</a:t>
            </a:r>
            <a:endParaRPr sz="18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-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Логи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- события с контекстом</a:t>
            </a:r>
            <a:endParaRPr sz="18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-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Трассировки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- цепочки выполнения</a:t>
            </a:r>
            <a:endParaRPr sz="1800">
              <a:solidFill>
                <a:schemeClr val="tx1"/>
              </a:solidFill>
            </a:endParaRPr>
          </a:p>
        </p:txBody>
      </p:sp>
      <p:pic>
        <p:nvPicPr>
          <p:cNvPr id="1457101812" name=""/>
          <p:cNvPicPr>
            <a:picLocks noChangeAspect="1"/>
          </p:cNvPicPr>
          <p:nvPr>
            <p:ph sz="half" idx="2"/>
          </p:nvPr>
        </p:nvPicPr>
        <p:blipFill>
          <a:blip r:embed="rId2"/>
          <a:stretch/>
        </p:blipFill>
        <p:spPr bwMode="auto">
          <a:xfrm rot="0">
            <a:off x="6172200" y="2024062"/>
            <a:ext cx="5181599" cy="3437950"/>
          </a:xfrm>
          <a:prstGeom prst="rect">
            <a:avLst/>
          </a:prstGeom>
        </p:spPr>
      </p:pic>
      <p:sp>
        <p:nvSpPr>
          <p:cNvPr id="38671043" name=""/>
          <p:cNvSpPr txBox="1"/>
          <p:nvPr/>
        </p:nvSpPr>
        <p:spPr bwMode="auto">
          <a:xfrm flipH="0" flipV="0">
            <a:off x="11353797" y="6264909"/>
            <a:ext cx="280030" cy="320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500">
                <a:latin typeface="Liberation Sans"/>
                <a:ea typeface="Liberation Sans"/>
                <a:cs typeface="Liberation Sans"/>
              </a:rPr>
              <a:t>2</a:t>
            </a:r>
            <a:endParaRPr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D4E4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146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Метрики </a:t>
            </a:r>
            <a:endParaRPr sz="40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2695168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Prometheus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– это open-source система мониторинга и оповещения, работающая по принципу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pull-модели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(сама собирает метрики с целевых сервисов).</a:t>
            </a:r>
            <a:endParaRPr sz="20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Grafana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– инструмент для визуализации данных с поддержкой множества источников (Prometheus, Elasticsearch, MySQL, Loki и др.).</a:t>
            </a:r>
            <a:endParaRPr sz="2000">
              <a:solidFill>
                <a:schemeClr val="tx1"/>
              </a:solidFill>
            </a:endParaRPr>
          </a:p>
        </p:txBody>
      </p:sp>
      <p:pic>
        <p:nvPicPr>
          <p:cNvPr id="211896160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57225" y="2557461"/>
            <a:ext cx="5096849" cy="2401094"/>
          </a:xfrm>
          <a:prstGeom prst="rect">
            <a:avLst/>
          </a:prstGeom>
        </p:spPr>
      </p:pic>
      <p:sp>
        <p:nvSpPr>
          <p:cNvPr id="2026702197" name=""/>
          <p:cNvSpPr txBox="1"/>
          <p:nvPr/>
        </p:nvSpPr>
        <p:spPr bwMode="auto">
          <a:xfrm flipH="0" flipV="0">
            <a:off x="11353797" y="6264909"/>
            <a:ext cx="280749" cy="320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500">
                <a:latin typeface="Liberation Sans"/>
                <a:ea typeface="Liberation Sans"/>
                <a:cs typeface="Liberation Sans"/>
              </a:rPr>
              <a:t>3</a:t>
            </a:r>
            <a:endParaRPr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D4E4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820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3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Логи</a:t>
            </a:r>
            <a:endParaRPr sz="33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98892427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261850" indent="-261850">
              <a:buFont typeface="Arial"/>
              <a:buAutoNum type="arabicPeriod"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Elasticsearch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– распределенная поисковая и аналитическая система на основе NoSQL-хранилища.</a:t>
            </a:r>
            <a:endParaRPr sz="20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    - Хранит и индексирует данные.</a:t>
            </a:r>
            <a:endParaRPr sz="2000" b="0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    -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Обеспечивает быстрый поиск и агрегацию.</a:t>
            </a:r>
            <a:endParaRPr sz="20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2. Logstash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– инструмент для обработки и трансформации данных (ETL-процессы).</a:t>
            </a:r>
            <a:endParaRPr sz="20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    - Принимает данные из разных источников (логи,   метрики, события).</a:t>
            </a:r>
            <a:endParaRPr sz="20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000">
                <a:solidFill>
                  <a:schemeClr val="tx1"/>
                </a:solidFill>
              </a:rPr>
              <a:t>     -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Фильтрует, парсит и обогащает данные перед отправкой в Elasticsearch.</a:t>
            </a:r>
            <a:endParaRPr sz="20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3. Kibana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– веб-интерфейс для визуализации и анализа данных.</a:t>
            </a:r>
            <a:endParaRPr sz="20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000">
                <a:solidFill>
                  <a:schemeClr val="tx1"/>
                </a:solidFill>
              </a:rPr>
              <a:t>     -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Позволяет строить дашборды, графики, диаграммы.</a:t>
            </a:r>
            <a:endParaRPr sz="20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    - Обеспечивает удобный поиск и анализ логов.</a:t>
            </a:r>
            <a:endParaRPr sz="2000">
              <a:solidFill>
                <a:schemeClr val="tx1"/>
              </a:solidFill>
            </a:endParaRPr>
          </a:p>
        </p:txBody>
      </p:sp>
      <p:pic>
        <p:nvPicPr>
          <p:cNvPr id="8893089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019799" y="2114550"/>
            <a:ext cx="5712044" cy="3295649"/>
          </a:xfrm>
          <a:prstGeom prst="rect">
            <a:avLst/>
          </a:prstGeom>
        </p:spPr>
      </p:pic>
      <p:sp>
        <p:nvSpPr>
          <p:cNvPr id="1406773701" name=""/>
          <p:cNvSpPr txBox="1"/>
          <p:nvPr/>
        </p:nvSpPr>
        <p:spPr bwMode="auto">
          <a:xfrm flipH="0" flipV="0">
            <a:off x="11353797" y="6264909"/>
            <a:ext cx="280749" cy="320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500">
                <a:latin typeface="Liberation Sans"/>
                <a:ea typeface="Liberation Sans"/>
                <a:cs typeface="Liberation Sans"/>
              </a:rPr>
              <a:t>4</a:t>
            </a:r>
            <a:endParaRPr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D4E4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9270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Трассировки</a:t>
            </a:r>
            <a:r>
              <a:rPr sz="4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endParaRPr sz="4000">
              <a:solidFill>
                <a:schemeClr val="tx1"/>
              </a:solidFill>
            </a:endParaRPr>
          </a:p>
        </p:txBody>
      </p:sp>
      <p:sp>
        <p:nvSpPr>
          <p:cNvPr id="1215857091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838198" y="1825625"/>
            <a:ext cx="10326074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Jaeger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это open-source система для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мониторинга и трассировки распределённых систем</a:t>
            </a:r>
            <a:endParaRPr sz="2000" b="0">
              <a:solidFill>
                <a:schemeClr val="tx1"/>
              </a:solidFill>
            </a:endParaRPr>
          </a:p>
        </p:txBody>
      </p:sp>
      <p:pic>
        <p:nvPicPr>
          <p:cNvPr id="64044613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306024" y="2498436"/>
            <a:ext cx="7123725" cy="3941370"/>
          </a:xfrm>
          <a:prstGeom prst="rect">
            <a:avLst/>
          </a:prstGeom>
        </p:spPr>
      </p:pic>
      <p:sp>
        <p:nvSpPr>
          <p:cNvPr id="313738609" name=""/>
          <p:cNvSpPr txBox="1"/>
          <p:nvPr/>
        </p:nvSpPr>
        <p:spPr bwMode="auto">
          <a:xfrm flipH="0" flipV="0">
            <a:off x="11353797" y="6264909"/>
            <a:ext cx="280749" cy="320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500">
                <a:latin typeface="Liberation Sans"/>
                <a:ea typeface="Liberation Sans"/>
                <a:cs typeface="Liberation Sans"/>
              </a:rPr>
              <a:t>5</a:t>
            </a:r>
            <a:endParaRPr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D4E4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95446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sz="4000" b="1" strike="noStrik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Практика</a:t>
            </a:r>
            <a:endParaRPr sz="4000" b="1" strike="noStrike" spc="0">
              <a:solidFill>
                <a:schemeClr val="tx1"/>
              </a:solidFill>
              <a:latin typeface="Liberation Sans"/>
              <a:cs typeface="Liberation Sans"/>
            </a:endParaRPr>
          </a:p>
        </p:txBody>
      </p:sp>
      <p:sp>
        <p:nvSpPr>
          <p:cNvPr id="620689920" name=""/>
          <p:cNvSpPr txBox="1"/>
          <p:nvPr/>
        </p:nvSpPr>
        <p:spPr bwMode="auto">
          <a:xfrm flipH="0" flipV="0">
            <a:off x="11353797" y="6264909"/>
            <a:ext cx="280749" cy="320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500">
                <a:latin typeface="Liberation Sans"/>
                <a:ea typeface="Liberation Sans"/>
                <a:cs typeface="Liberation Sans"/>
              </a:rPr>
              <a:t>6</a:t>
            </a:r>
            <a:endParaRPr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D4E4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215263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sz="4000" b="1" strike="noStrik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Спасибо за внимание!</a:t>
            </a:r>
            <a:endParaRPr sz="4000" b="1" strike="noStrike" spc="0">
              <a:solidFill>
                <a:schemeClr val="tx1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Кирилл Фирсов</cp:lastModifiedBy>
  <cp:revision>6</cp:revision>
  <dcterms:created xsi:type="dcterms:W3CDTF">2023-08-25T13:22:51Z</dcterms:created>
  <dcterms:modified xsi:type="dcterms:W3CDTF">2025-05-17T08:24:23Z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